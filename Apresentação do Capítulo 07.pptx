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6858000" cx="12191675"/>
  <p:notesSz cx="6858000" cy="12191675"/>
  <p:embeddedFontLst>
    <p:embeddedFont>
      <p:font typeface="Platypi Medium"/>
      <p:regular r:id="rId44"/>
      <p:bold r:id="rId45"/>
      <p:italic r:id="rId46"/>
      <p:boldItalic r:id="rId47"/>
    </p:embeddedFont>
    <p:embeddedFont>
      <p:font typeface="Source Serif 4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PlatypiMedium-regular.fntdata"/><Relationship Id="rId43" Type="http://schemas.openxmlformats.org/officeDocument/2006/relationships/slide" Target="slides/slide39.xml"/><Relationship Id="rId46" Type="http://schemas.openxmlformats.org/officeDocument/2006/relationships/font" Target="fonts/PlatypiMedium-italic.fntdata"/><Relationship Id="rId45" Type="http://schemas.openxmlformats.org/officeDocument/2006/relationships/font" Target="fonts/PlatypiMediu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ourceSerif4-regular.fntdata"/><Relationship Id="rId47" Type="http://schemas.openxmlformats.org/officeDocument/2006/relationships/font" Target="fonts/PlatypiMedium-boldItalic.fntdata"/><Relationship Id="rId49" Type="http://schemas.openxmlformats.org/officeDocument/2006/relationships/font" Target="fonts/SourceSerif4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SourceSerif4-boldItalic.fntdata"/><Relationship Id="rId50" Type="http://schemas.openxmlformats.org/officeDocument/2006/relationships/font" Target="fonts/SourceSerif4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4296f643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g3f4296f643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f4296f643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39f910315_0_26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f39f910315_0_26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f39f910315_0_26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5075d10a2_0_30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5075d10a2_0_30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f5075d10a2_0_30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075d10a2_0_63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5075d10a2_0_63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5075d10a2_0_63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463ee9f6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463ee9f6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463ee9f6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075d10a2_0_11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5075d10a2_0_11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5075d10a2_0_11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075d10a2_0_141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5075d10a2_0_141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5075d10a2_0_141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463ee9f6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463ee9f6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463ee9f69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075d10a2_0_168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f5075d10a2_0_168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5075d10a2_0_168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075d10a2_0_203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5075d10a2_0_203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5075d10a2_0_203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075d10a2_0_21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5075d10a2_0_21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5075d10a2_0_21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39f91031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39f91031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39f91031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075d10a2_0_0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5075d10a2_0_0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5075d10a2_0_0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39f910315_0_46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f39f910315_0_46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39f910315_0_46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39f910315_0_67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39f910315_0_67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39f910315_0_67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39f910315_0_86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f39f910315_0_86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39f910315_0_86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39f91031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39f91031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39f910315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9f910315_0_109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f39f910315_0_109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39f910315_0_109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9f910315_0_129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f39f910315_0_129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f39f910315_0_129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39f910315_0_169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39f910315_0_169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39f910315_0_169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39f910315_0_190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39f910315_0_190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39f910315_0_190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39f91031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f39f91031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f39f910315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39f910315_0_207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f39f910315_0_207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39f910315_0_207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39f910315_0_227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f39f910315_0_227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39f910315_0_227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39f910315_0_247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39f910315_0_247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39f910315_0_247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39f910315_0_265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f39f910315_0_265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39f910315_0_265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463ee9f6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f463ee9f6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463ee9f6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43213ddc0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f43213ddc0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43213ddc0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43213ddc0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f43213ddc0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43213ddc0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45e713916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3f45e713916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f45e713916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45e713916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f45e713916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f45e713916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45e713916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f45e713916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f45e713916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4296f643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f4296f643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4296f643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42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661463" y="2948228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Erros em Regime P</a:t>
            </a: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ermanente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661463" y="361448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Capítulo 07 do Livro de Engenharia de Sistemas de Controle do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Norman S. Nise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61475" y="6002407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Discentes: Gabriel Cavalcanti, Gabriel Montenegro e Rafael Hernanni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661463" y="2948228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Introdução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61463" y="361448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ão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7.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4571875" y="594350"/>
            <a:ext cx="7285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30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 que é Erro em Regime Permanente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4571878" y="2093950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4571878" y="2093950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4846191" y="2203678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DEFINIÇÃO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846200" y="2625254"/>
            <a:ext cx="64920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Erro em regime permanente = diferença entre entrada e saída quando t → ∞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571875" y="3529549"/>
            <a:ext cx="6949200" cy="1347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4571874" y="3529550"/>
            <a:ext cx="54900" cy="1347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4846191" y="3639286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ENTRADAS DE TESTE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846200" y="3968476"/>
            <a:ext cx="64920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Degrau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→ posição constante → R(s) = 1/s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Rampa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→ velocidade constante → R(s) = 1/s²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Parábola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→ aceleração constante → R(s) = 1/s³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4" y="484563"/>
            <a:ext cx="3993325" cy="3465636"/>
          </a:xfrm>
          <a:prstGeom prst="rect">
            <a:avLst/>
          </a:prstGeom>
          <a:solidFill>
            <a:srgbClr val="F7F5F2"/>
          </a:solidFill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5276125" y="5714950"/>
            <a:ext cx="5540700" cy="789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5276125" y="5714953"/>
            <a:ext cx="43800" cy="789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5481123" y="5998675"/>
            <a:ext cx="525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Só se aplica a sistemas ESTÁVEIS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149" y="4041450"/>
            <a:ext cx="1277069" cy="1234500"/>
          </a:xfrm>
          <a:prstGeom prst="rect">
            <a:avLst/>
          </a:prstGeom>
          <a:solidFill>
            <a:srgbClr val="F7F5F2"/>
          </a:solidFill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4623" y="4031925"/>
            <a:ext cx="1277075" cy="1219026"/>
          </a:xfrm>
          <a:prstGeom prst="rect">
            <a:avLst/>
          </a:prstGeom>
          <a:solidFill>
            <a:srgbClr val="F7F5F2"/>
          </a:solidFill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8849" y="5367199"/>
            <a:ext cx="1277075" cy="1200450"/>
          </a:xfrm>
          <a:prstGeom prst="rect">
            <a:avLst/>
          </a:prstGeom>
          <a:solidFill>
            <a:srgbClr val="F7F5F2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5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Interpretando o Erro Graficamente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4075"/>
            <a:ext cx="5585952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700" y="1379975"/>
            <a:ext cx="5791074" cy="33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218875" y="4884725"/>
            <a:ext cx="5519400" cy="1347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218874" y="4884725"/>
            <a:ext cx="54900" cy="1347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493198" y="4994450"/>
            <a:ext cx="507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ENTRADA DEGRAU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93200" y="5323650"/>
            <a:ext cx="50712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Saída 1 → erro = 0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Saída 2 → erro finito (e₂(∞))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302825" y="4898175"/>
            <a:ext cx="5519400" cy="1347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6302824" y="4898175"/>
            <a:ext cx="54900" cy="1347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6577148" y="5007900"/>
            <a:ext cx="507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ENTRADA RAMPA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6577150" y="5337100"/>
            <a:ext cx="50712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Saída 1 → erro = 0 (mesma inclinação)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Saída 2 → erro finito (mesma inclinação, defasada)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Saída 3 → erro infinito (inclinação diferente) 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5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 Onde Vem o Erro?</a:t>
            </a:r>
            <a:r>
              <a:rPr lang="en-US" sz="35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6302826" y="1281201"/>
            <a:ext cx="5519400" cy="16653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6302825" y="1281200"/>
            <a:ext cx="54900" cy="16653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6577148" y="1390925"/>
            <a:ext cx="507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GANHO PURO (K) - Sistema tipo 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6577150" y="1720125"/>
            <a:ext cx="5071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e_rp = c_rp / K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→ erro SEMPRE existe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→ diminui se K aumenta 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450" y="1720125"/>
            <a:ext cx="3200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738" y="3841005"/>
            <a:ext cx="31718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6302826" y="3841001"/>
            <a:ext cx="5519400" cy="16653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6302825" y="3841000"/>
            <a:ext cx="54900" cy="16653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577148" y="3950725"/>
            <a:ext cx="507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INTEGRADOR (K/s)</a:t>
            </a: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 - Sistema tipo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577150" y="4279925"/>
            <a:ext cx="5071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e_rp = 0 para degrau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(integrador mantém saída constante mesmo com e=0) 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261150" y="6080700"/>
            <a:ext cx="599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18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"A configuração do sistema determina a natureza do erro"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661475" y="2270648"/>
            <a:ext cx="10868700" cy="1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em Regime Permanente para Sistemas com Realimentação Unitária 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661463" y="361448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ão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7.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4571875" y="594350"/>
            <a:ext cx="7285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30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Fórmula Geral do Erro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4566326" y="2431050"/>
            <a:ext cx="6949200" cy="18603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4566325" y="2431050"/>
            <a:ext cx="54900" cy="18603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4840642" y="2575076"/>
            <a:ext cx="6492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SISTEMA COM REALIMENTAÇÃO UNITÁRIA </a:t>
            </a: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4840651" y="3007127"/>
            <a:ext cx="64920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E(s) = R(s) / [1 + G(s)]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TEOREMA DO VALOR FINAL: e(∞) = lim s→0 s·R(s) / [1 + G(s)]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4794925" y="5530150"/>
            <a:ext cx="6492000" cy="789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4794925" y="5530153"/>
            <a:ext cx="47400" cy="789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5035118" y="5813874"/>
            <a:ext cx="616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Válido apenas se o sistema em malha fechada for ESTÁVEL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38" y="2742080"/>
            <a:ext cx="31718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para Cada Tipo de Entrada </a:t>
            </a:r>
            <a:endParaRPr sz="32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548625" y="1554475"/>
            <a:ext cx="99336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548625" y="1554475"/>
            <a:ext cx="1011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1020035" y="2048251"/>
            <a:ext cx="9091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DEGRAU (R(s)=1/s):</a:t>
            </a:r>
            <a:r>
              <a:rPr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e(∞) = 1 / [1 + lim G(s)]        → precisa de ≥ 1 integração p/ e=0 </a:t>
            </a:r>
            <a:endParaRPr sz="16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RAMPA (R(s)=1/s²): 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500"/>
              <a:buFont typeface="Calibri"/>
              <a:buChar char="●"/>
            </a:pPr>
            <a:r>
              <a:rPr lang="en-US" sz="16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e(∞) = 1 / lim [s·G(s)]           → precisa de ≥ 2 integrações p/ e=0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PARÁBOLA (R(s)=1/s³):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e(∞) = 1 / lim [s²·G(s)]         → precisa de ≥ 3 integrações p/ e=0 </a:t>
            </a:r>
            <a:endParaRPr sz="16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Quanto mais integrações puras no caminho direto → mais preciso o sistema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/>
          <p:nvPr/>
        </p:nvSpPr>
        <p:spPr>
          <a:xfrm>
            <a:off x="661488" y="2907150"/>
            <a:ext cx="10868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Constante de Erro Estático e Tipo do Sistema 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1463" y="361448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ão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7.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4571875" y="594350"/>
            <a:ext cx="7285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30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Constantes de Erro Estático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566326" y="1928000"/>
            <a:ext cx="6949200" cy="24534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4566325" y="1928000"/>
            <a:ext cx="54900" cy="24534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4869225" y="2229502"/>
            <a:ext cx="64920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lim s→0 G(s)               (constante de posição)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Kv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lim s→0 s·G(s)            (constante de velocidade)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lim s→0 s²·G(s)          (constante de aceleração) 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4869225" y="5215350"/>
            <a:ext cx="6492000" cy="1119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4821825" y="5215353"/>
            <a:ext cx="47400" cy="1119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5035125" y="5328300"/>
            <a:ext cx="61602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 MAIOR a constante      → MENOR o erro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o ganho do sistema → aumenta a constante → reduz o erro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(desde que o sistema continue estável)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63" y="1782800"/>
            <a:ext cx="3959474" cy="3156797"/>
          </a:xfrm>
          <a:prstGeom prst="rect">
            <a:avLst/>
          </a:prstGeom>
          <a:solidFill>
            <a:srgbClr val="F7F5F2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/>
          <p:nvPr/>
        </p:nvSpPr>
        <p:spPr>
          <a:xfrm>
            <a:off x="595788" y="641700"/>
            <a:ext cx="11000100" cy="5574600"/>
          </a:xfrm>
          <a:prstGeom prst="rect">
            <a:avLst/>
          </a:prstGeom>
          <a:solidFill>
            <a:srgbClr val="F3F1EE"/>
          </a:solidFill>
          <a:ln cap="flat" cmpd="sng" w="14075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250" lIns="101250" spcFirstLastPara="1" rIns="101250" wrap="square" tIns="101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548625" y="739175"/>
            <a:ext cx="111900" cy="55746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101250" lIns="101250" spcFirstLastPara="1" rIns="101250" wrap="square" tIns="101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487" y="917437"/>
            <a:ext cx="10254699" cy="5023124"/>
          </a:xfrm>
          <a:prstGeom prst="rect">
            <a:avLst/>
          </a:prstGeom>
          <a:solidFill>
            <a:srgbClr val="F3F1EE"/>
          </a:solidFill>
          <a:ln cap="flat" cmpd="sng" w="14075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Prático e Fechamento </a:t>
            </a:r>
            <a:endParaRPr sz="32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548625" y="1554475"/>
            <a:ext cx="99336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48625" y="1554475"/>
            <a:ext cx="1011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1020035" y="2048251"/>
            <a:ext cx="90915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EXEMPLO: O que significa Kv = 1000?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t/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✓ O sistema é ESTÁVEL 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✓ O sistema é do TIPO 1 (só Tipo 1 tem Kv finito) 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✓ O sinal de teste implícito é uma RAMPA 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✓ e(∞) = 1/Kv = 1/1000 por unidade de inclinação 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t/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"Uma única especificação numérica revela todo o comportamento </a:t>
            </a:r>
            <a:endParaRPr b="1" sz="18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do sistema em regime permanente"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/>
          <p:nvPr/>
        </p:nvSpPr>
        <p:spPr>
          <a:xfrm>
            <a:off x="661488" y="2907150"/>
            <a:ext cx="10868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Especificações de Erro em Regime Permanente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61475" y="406323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ão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7.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1508720" y="2606040"/>
            <a:ext cx="1097400" cy="1097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1508720" y="2606040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8B6B3D"/>
                </a:solidFill>
                <a:latin typeface="Calibri"/>
                <a:ea typeface="Calibri"/>
                <a:cs typeface="Calibri"/>
                <a:sym typeface="Calibri"/>
              </a:rPr>
              <a:t>Kv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571878" y="594360"/>
            <a:ext cx="6949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30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Especificações de Erro em</a:t>
            </a:r>
            <a:endParaRPr sz="3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30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Regime Permanente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71878" y="2514600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4571878" y="2514600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4846191" y="2624328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846191" y="2953512"/>
            <a:ext cx="64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Assim como ζ, Ts, Tp e %UP especificam a resposta transitória, precisamos de grandezas que </a:t>
            </a: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especifique</a:t>
            </a: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 o erro em regime permanente de um sistema de controle.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571878" y="3950208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571878" y="3950208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4846191" y="4059936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A Ideia Central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4846191" y="4389120"/>
            <a:ext cx="64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As constantes de erro estático — Kp, Kv e Ka — cumprem esse papel. Especificar uma delas revela, sozinha, várias informações sobre o sistema.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5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 Que Uma Especificação de Erro Revela?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48625" y="1143000"/>
            <a:ext cx="11064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Exemplo: se um sistema de controle possui a especificação Kv = 1.000, quatro conclusões podem ser tiradas imediatamente — sem qualquer cálculo adicional.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48625" y="1874520"/>
            <a:ext cx="2697600" cy="37947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48625" y="1874520"/>
            <a:ext cx="54900" cy="37947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804651" y="2002536"/>
            <a:ext cx="22404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Sistema estável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 própria existência de uma constante de erro finita pressupõe estabilidade em malha fechada.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3465484" y="1874520"/>
            <a:ext cx="2697600" cy="37947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3465484" y="1874520"/>
            <a:ext cx="54900" cy="37947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3721509" y="2002536"/>
            <a:ext cx="22404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Tipo do sistema =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Só sistemas do Tipo 1 têm Kv finito. No Tipo 0, Kv = 0; no Tipo 2, Kv = ∞.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382342" y="1874520"/>
            <a:ext cx="2697600" cy="37947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6382342" y="1874520"/>
            <a:ext cx="54900" cy="37947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6638367" y="2002536"/>
            <a:ext cx="22404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Sinal de teste = rampa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Como Kv é uma constante finita e o erro em rampa é 1/Kv, o sinal de teste correspondente só pode ser uma rampa.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9299200" y="1874520"/>
            <a:ext cx="2697600" cy="37947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9299200" y="1874520"/>
            <a:ext cx="54900" cy="37947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9555225" y="2002536"/>
            <a:ext cx="2240400" cy="3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Erro numérico conhecido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O erro em regime permanente entre a rampa de entrada e a de saída é 1/Kv por unidade de inclinação.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7.5</a:t>
            </a:r>
            <a:endParaRPr sz="3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548625" y="1024128"/>
            <a:ext cx="1106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50"/>
              <a:buFont typeface="Calibri"/>
              <a:buNone/>
            </a:pPr>
            <a:r>
              <a:rPr b="0" i="1" lang="en-US" sz="20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Interpretando a especificação Kp = 1.000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48625" y="1554480"/>
            <a:ext cx="54864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48625" y="1554480"/>
            <a:ext cx="549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804651" y="1682496"/>
            <a:ext cx="502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Raciocínio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04651" y="2048256"/>
            <a:ext cx="5029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• Sistema é estável.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• Tipo do sistema = 0, pois apenas um sistema do Tipo 0 possui Kp finito (Tipo 1 e Tipo 2 têm Kp = ∞).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• Sinal de teste = degrau, uma vez que foi Kp (e não Kv ou Ka) quem foi especificado.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• O erro por unidade de degrau é dado por 1/(1+Kp).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6309192" y="1554480"/>
            <a:ext cx="5331000" cy="1828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6583505" y="1700784"/>
            <a:ext cx="47823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e(∞) = 1 / (1 + Kp) = 1 / (1 + 1000) = 1/1001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6309192" y="3566160"/>
            <a:ext cx="5331000" cy="22860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6309192" y="3566160"/>
            <a:ext cx="54900" cy="22860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6565217" y="3694176"/>
            <a:ext cx="4873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565217" y="4059936"/>
            <a:ext cx="4873800" cy="1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Uma única constante de erro estático — sem precisar conhecer G(s) explicitamente — já entrega estabilidade, tipo do sistema, sinal de teste e valor numérico do erro.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7.6 e Exercício 7.3</a:t>
            </a:r>
            <a:endParaRPr sz="3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48625" y="1024128"/>
            <a:ext cx="1106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50"/>
              <a:buFont typeface="Calibri"/>
              <a:buNone/>
            </a:pPr>
            <a:r>
              <a:rPr b="0" i="1" lang="en-US" sz="20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Projetando o ganho para atender a uma especificação de erro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48625" y="1417320"/>
            <a:ext cx="1106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Dado um sistema do Tipo 1, determine o ganho K para obter 10% de erro em regime permanente.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48625" y="2011680"/>
            <a:ext cx="5394900" cy="38406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48625" y="2011680"/>
            <a:ext cx="54900" cy="38406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804651" y="2139696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Passo a passo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04651" y="2505456"/>
            <a:ext cx="4937700" cy="3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1. Sistema Tipo 1 → apenas entrada em rampa gera erro finito.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2. e(∞) = 1/Kv = 0,1  →  Kv = 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3. Kv = lim s·G(s), quando s → 0, calculado a partir dos polos/zeros de G(s).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4. Isolando K na expressão de Kv, obtém-se o ganho necessário.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5. Aplica-se Routh-Hurwitz para confirmar a estabilidade com esse ganho.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217754" y="2011680"/>
            <a:ext cx="5422500" cy="16917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6217754" y="2011680"/>
            <a:ext cx="54900" cy="16917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6473779" y="213969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Exemplo 7.6</a:t>
            </a:r>
            <a:endParaRPr b="1" sz="2000">
              <a:solidFill>
                <a:srgbClr val="2A25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473779" y="2197931"/>
            <a:ext cx="49653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15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K(s + 5) / [s(s+6)(s+7)(s+8)]  →  Kv = 10  →  K = 672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217754" y="3840480"/>
            <a:ext cx="5422500" cy="16917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6217754" y="3840480"/>
            <a:ext cx="54900" cy="16917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6473779" y="396849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Exercício 7.3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473779" y="4334256"/>
            <a:ext cx="49653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K(s + 12) / [(s+14)(s+18)]  →  10% de erro  →  K = 189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48625" y="5989320"/>
            <a:ext cx="1106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1050"/>
              <a:buFont typeface="Calibri"/>
              <a:buNone/>
            </a:pPr>
            <a:r>
              <a:rPr b="0" i="1" lang="en-US" sz="1500" u="none" cap="none" strike="noStrike">
                <a:solidFill>
                  <a:srgbClr val="8B6B3D"/>
                </a:solidFill>
                <a:latin typeface="Calibri"/>
                <a:ea typeface="Calibri"/>
                <a:cs typeface="Calibri"/>
                <a:sym typeface="Calibri"/>
              </a:rPr>
              <a:t>Atenção: atender ao erro em regime permanente e à estabilidade não garante uma resposta transitória adequada</a:t>
            </a:r>
            <a:r>
              <a:rPr i="1" lang="en-US" sz="1500">
                <a:solidFill>
                  <a:srgbClr val="8B6B3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661488" y="2907150"/>
            <a:ext cx="10868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em Regime Permanente para Perturbações</a:t>
            </a: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61475" y="408273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ão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7.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1508720" y="2606040"/>
            <a:ext cx="1097400" cy="1097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1508720" y="2606040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8B6B3D"/>
                </a:solidFill>
                <a:latin typeface="Calibri"/>
                <a:ea typeface="Calibri"/>
                <a:cs typeface="Calibri"/>
                <a:sym typeface="Calibri"/>
              </a:rPr>
              <a:t>D(s)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571878" y="594360"/>
            <a:ext cx="6949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em Regime Permanente</a:t>
            </a:r>
            <a:endParaRPr sz="3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para Perturbações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4571878" y="2514600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4571878" y="2514600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4846191" y="2624328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846191" y="2953512"/>
            <a:ext cx="64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Sistemas reais sofrem perturbações — entradas indesejadas que atuam entre o controlador e a planta. Como a realimentação ajuda a rejeitá-las?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571878" y="3950208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4571878" y="3950208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4846191" y="4059936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A Ideia Central</a:t>
            </a:r>
            <a:endParaRPr b="1" sz="2000">
              <a:solidFill>
                <a:srgbClr val="2A25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846191" y="4389120"/>
            <a:ext cx="64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O erro total em regime permanente é a soma de duas parcelas independentes: uma devida à referência R(s) e outra devida à perturbação D(s).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Decompondo o Erro: Referência + Perturbação</a:t>
            </a:r>
            <a:endParaRPr sz="32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914376" y="224028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914376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74350" y="2308863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R(s)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1737314" y="1920240"/>
            <a:ext cx="1554600" cy="1097400"/>
          </a:xfrm>
          <a:prstGeom prst="rect">
            <a:avLst/>
          </a:prstGeom>
          <a:solidFill>
            <a:srgbClr val="F3F1EE"/>
          </a:solidFill>
          <a:ln cap="flat" cmpd="sng" w="15225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1737314" y="1920240"/>
            <a:ext cx="155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Controlador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G1(s)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3657503" y="224028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3657503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3337471" y="1463142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D(s)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4480441" y="1920240"/>
            <a:ext cx="1554600" cy="1097400"/>
          </a:xfrm>
          <a:prstGeom prst="rect">
            <a:avLst/>
          </a:prstGeom>
          <a:solidFill>
            <a:srgbClr val="F3F1EE"/>
          </a:solidFill>
          <a:ln cap="flat" cmpd="sng" w="15225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4480441" y="1920240"/>
            <a:ext cx="155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Planta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G2(s)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6217748" y="2308882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C(s)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23"/>
          <p:cNvCxnSpPr/>
          <p:nvPr/>
        </p:nvCxnSpPr>
        <p:spPr>
          <a:xfrm>
            <a:off x="749788" y="2468880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23"/>
          <p:cNvCxnSpPr/>
          <p:nvPr/>
        </p:nvCxnSpPr>
        <p:spPr>
          <a:xfrm>
            <a:off x="1371563" y="2468880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23"/>
          <p:cNvCxnSpPr/>
          <p:nvPr/>
        </p:nvCxnSpPr>
        <p:spPr>
          <a:xfrm>
            <a:off x="3291752" y="2468880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23"/>
          <p:cNvCxnSpPr/>
          <p:nvPr/>
        </p:nvCxnSpPr>
        <p:spPr>
          <a:xfrm>
            <a:off x="4114690" y="2468880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23"/>
          <p:cNvCxnSpPr/>
          <p:nvPr/>
        </p:nvCxnSpPr>
        <p:spPr>
          <a:xfrm>
            <a:off x="6034879" y="246888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23"/>
          <p:cNvCxnSpPr/>
          <p:nvPr/>
        </p:nvCxnSpPr>
        <p:spPr>
          <a:xfrm>
            <a:off x="3886096" y="178308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23"/>
          <p:cNvCxnSpPr>
            <a:stCxn id="282" idx="2"/>
          </p:cNvCxnSpPr>
          <p:nvPr/>
        </p:nvCxnSpPr>
        <p:spPr>
          <a:xfrm>
            <a:off x="1142976" y="2697480"/>
            <a:ext cx="0" cy="118860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23"/>
          <p:cNvCxnSpPr/>
          <p:nvPr/>
        </p:nvCxnSpPr>
        <p:spPr>
          <a:xfrm>
            <a:off x="1142970" y="388620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23"/>
          <p:cNvCxnSpPr/>
          <p:nvPr/>
        </p:nvCxnSpPr>
        <p:spPr>
          <a:xfrm>
            <a:off x="6629223" y="2468880"/>
            <a:ext cx="0" cy="1417200"/>
          </a:xfrm>
          <a:prstGeom prst="straightConnector1">
            <a:avLst/>
          </a:prstGeom>
          <a:noFill/>
          <a:ln cap="flat" cmpd="sng" w="19050">
            <a:solidFill>
              <a:srgbClr val="3B3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23"/>
          <p:cNvSpPr/>
          <p:nvPr/>
        </p:nvSpPr>
        <p:spPr>
          <a:xfrm>
            <a:off x="7589318" y="1737360"/>
            <a:ext cx="4023300" cy="16002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7589318" y="1737360"/>
            <a:ext cx="54900" cy="16002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7845343" y="1865376"/>
            <a:ext cx="356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Erro total</a:t>
            </a:r>
            <a:endParaRPr b="1" sz="2000">
              <a:solidFill>
                <a:srgbClr val="2A25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7845343" y="2231136"/>
            <a:ext cx="35661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e(∞) = eR(∞) + eD(∞)</a:t>
            </a:r>
            <a:endParaRPr sz="1500">
              <a:solidFill>
                <a:srgbClr val="4A43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548625" y="4160520"/>
            <a:ext cx="5394900" cy="2011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548625" y="4160520"/>
            <a:ext cx="54900" cy="2011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804651" y="4288536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Parcela da referência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804651" y="4654296"/>
            <a:ext cx="49377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eR(∞) = lim s·R(s) / [1+G1(s)G2(s)], s→0 — é o erro clássico já estudado em 7.3/7.4.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6217754" y="4160520"/>
            <a:ext cx="5422500" cy="2011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"/>
          <p:cNvSpPr/>
          <p:nvPr/>
        </p:nvSpPr>
        <p:spPr>
          <a:xfrm>
            <a:off x="6217754" y="4160520"/>
            <a:ext cx="54900" cy="2011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6473779" y="428853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Parcela da perturbação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6473779" y="4654296"/>
            <a:ext cx="4965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eD(∞) = −lim s·G2(s)·D(s) / [1+G1(s)G2(s)], s→0 — mede o quanto D(s) escapa para o erro.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0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Reduzindo o Erro Devido a uma Perturbação em Degrau</a:t>
            </a:r>
            <a:endParaRPr sz="30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548625" y="1554480"/>
            <a:ext cx="11091300" cy="11886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1005813" y="1554480"/>
            <a:ext cx="201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eD(∞) =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3291752" y="1719072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24"/>
          <p:cNvCxnSpPr/>
          <p:nvPr/>
        </p:nvCxnSpPr>
        <p:spPr>
          <a:xfrm>
            <a:off x="3291752" y="2148840"/>
            <a:ext cx="2377500" cy="0"/>
          </a:xfrm>
          <a:prstGeom prst="straightConnector1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24"/>
          <p:cNvSpPr/>
          <p:nvPr/>
        </p:nvSpPr>
        <p:spPr>
          <a:xfrm>
            <a:off x="3291752" y="219456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1/G2(0)  +  G1(0)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548625" y="3017520"/>
            <a:ext cx="5394900" cy="31089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548625" y="3017520"/>
            <a:ext cx="54900" cy="31089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804651" y="3145536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Regra de projeto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804651" y="3511296"/>
            <a:ext cx="49377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Para reduzir o erro causado pela perturbação: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• Aumentar o ganho estático de G1(s) — o controlador.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• Diminuir o ganho estático de G2(s) — a planta.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Ambas as ações reduzem o quanto a perturbação se propaga até a saída.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6217754" y="3017520"/>
            <a:ext cx="5422500" cy="31089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6217754" y="3017520"/>
            <a:ext cx="54900" cy="31089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6473779" y="314553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Por que isso funciona?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6473779" y="3511296"/>
            <a:ext cx="49653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Reorganizando o diagrama com D(s) como entrada e E(s) como saída (R(s)=0): quanto maior o ganho de G1(s), menor o valor de E(s) necessário para equilibrar D(s) na malha — reduzindo o erro em regime permanente.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7.7 e Exercício 7.4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48625" y="1024128"/>
            <a:ext cx="1106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50"/>
              <a:buFont typeface="Calibri"/>
              <a:buNone/>
            </a:pPr>
            <a:r>
              <a:rPr b="0" i="1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Erro devido a uma perturbação em degrau — aplicação numérica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48625" y="1554480"/>
            <a:ext cx="53949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548625" y="1554480"/>
            <a:ext cx="549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804651" y="1682496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Exemplo 7.7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804651" y="2048256"/>
            <a:ext cx="4937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G1(s) = 1000  (controlador)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G2(s) = 1 / [s(s+25)]  (planta)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Como G2(s) tem ganho estático infinito: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A2521"/>
              </a:buClr>
              <a:buSzPts val="1600"/>
              <a:buFont typeface="Calibri"/>
              <a:buNone/>
            </a:pPr>
            <a:r>
              <a:rPr b="1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eD(∞) = −1/1000 </a:t>
            </a: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O erro é inversamente proporcional ao ganho estático de G1(s).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6217754" y="1554480"/>
            <a:ext cx="54225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6217754" y="1554480"/>
            <a:ext cx="549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>
            <a:off x="6473779" y="168249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Exercício 7.4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6473779" y="2048256"/>
            <a:ext cx="4965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G1(s) = 1000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G2(s) = (s+2) / (s+4)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A2521"/>
              </a:buClr>
              <a:buSzPts val="1600"/>
              <a:buFont typeface="Calibri"/>
              <a:buNone/>
            </a:pPr>
            <a:r>
              <a:rPr b="1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eD(∞) = −9,98 × 10⁻⁴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/>
          <p:nvPr/>
        </p:nvSpPr>
        <p:spPr>
          <a:xfrm>
            <a:off x="661488" y="2907150"/>
            <a:ext cx="10868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em Regime Permanente para Sistema com Realimentação Não Unitária</a:t>
            </a:r>
            <a:endParaRPr sz="3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661475" y="410223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ão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7.</a:t>
            </a:r>
            <a:r>
              <a:rPr lang="en-US" sz="1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</a:t>
            </a: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1508720" y="2606040"/>
            <a:ext cx="1097400" cy="1097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1508720" y="2606040"/>
            <a:ext cx="1097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8B6B3D"/>
                </a:solidFill>
                <a:latin typeface="Calibri"/>
                <a:ea typeface="Calibri"/>
                <a:cs typeface="Calibri"/>
                <a:sym typeface="Calibri"/>
              </a:rPr>
              <a:t>H(s)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4571878" y="594360"/>
            <a:ext cx="6949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</a:t>
            </a:r>
            <a:r>
              <a:rPr b="1" i="0" lang="en-US" sz="3000" u="none" cap="none" strike="noStrike">
                <a:solidFill>
                  <a:srgbClr val="2A2521"/>
                </a:solidFill>
                <a:latin typeface="Georgia"/>
                <a:ea typeface="Georgia"/>
                <a:cs typeface="Georgia"/>
                <a:sym typeface="Georgia"/>
              </a:rPr>
              <a:t> em Regime Permanente para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A2521"/>
                </a:solidFill>
                <a:latin typeface="Georgia"/>
                <a:ea typeface="Georgia"/>
                <a:cs typeface="Georgia"/>
                <a:sym typeface="Georgia"/>
              </a:rPr>
              <a:t>Sistemas com Realimentação Não Unitária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4571878" y="2514600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7"/>
          <p:cNvSpPr/>
          <p:nvPr/>
        </p:nvSpPr>
        <p:spPr>
          <a:xfrm>
            <a:off x="4571878" y="2514600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"/>
          <p:cNvSpPr/>
          <p:nvPr/>
        </p:nvSpPr>
        <p:spPr>
          <a:xfrm>
            <a:off x="4846191" y="2624328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4846191" y="2953512"/>
            <a:ext cx="64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Sistemas reais raramente têm realimentação unitária — seja por causa da compensação, seja pelo modelo físico. Nesses casos, o sinal na junção de soma não é mais o erro.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4571878" y="3950208"/>
            <a:ext cx="6949200" cy="12345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4571878" y="3950208"/>
            <a:ext cx="54900" cy="12345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4846191" y="4059936"/>
            <a:ext cx="649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40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A Ideia Central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4846191" y="4389120"/>
            <a:ext cx="649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5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É preciso primeiro converter o sistema em um sistema com realimentação unitária equivalente, para então aplicar os conceitos de Tipo e constantes de erro estático.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Real × Sinal de Atuação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548625" y="1554480"/>
            <a:ext cx="5394900" cy="2011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8"/>
          <p:cNvSpPr/>
          <p:nvPr/>
        </p:nvSpPr>
        <p:spPr>
          <a:xfrm>
            <a:off x="548625" y="1554480"/>
            <a:ext cx="54900" cy="2011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804651" y="1682496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Sinal de atuação, Ea(s)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804651" y="2048256"/>
            <a:ext cx="49377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Com H(s) ≠ 1, a saída da junção somadora não é a diferença entre entrada e saída — é chamada de sinal de atuação.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6217754" y="1554480"/>
            <a:ext cx="5422500" cy="2011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"/>
          <p:cNvSpPr/>
          <p:nvPr/>
        </p:nvSpPr>
        <p:spPr>
          <a:xfrm>
            <a:off x="6217754" y="1554480"/>
            <a:ext cx="54900" cy="2011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6473779" y="168249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Erro real, e(∞) = r(∞) − c(∞)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6473779" y="2048256"/>
            <a:ext cx="4965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Só pode ser calculado diretamente quando entrada e saída têm as mesmas unidades — exigindo a conversão do sistema.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548625" y="3749040"/>
            <a:ext cx="11091300" cy="25602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548625" y="3749040"/>
            <a:ext cx="54900" cy="25602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8"/>
          <p:cNvSpPr/>
          <p:nvPr/>
        </p:nvSpPr>
        <p:spPr>
          <a:xfrm>
            <a:off x="804651" y="3877056"/>
            <a:ext cx="10634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Conversão para realimentação unitária equivalente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804651" y="4242816"/>
            <a:ext cx="106341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Etapas: mover o transdutor de entrada para depois da junção de soma → somar e subtrair um caminho de realimentação unitária → combinar H(s) com a realimentação unitária negativa → reduzir tudo a um único caminho direto equivalente Ge(s).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A2521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Ge(s) = G(s) / [1 + G(s)H(s) − G(s)]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7.8</a:t>
            </a:r>
            <a:endParaRPr sz="32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548625" y="1024128"/>
            <a:ext cx="1106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50"/>
              <a:buFont typeface="Calibri"/>
              <a:buNone/>
            </a:pPr>
            <a:r>
              <a:rPr b="0" i="1" lang="en-US" sz="20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Cuidado com o tipo aparente do sistema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548625" y="1554480"/>
            <a:ext cx="53949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9"/>
          <p:cNvSpPr/>
          <p:nvPr/>
        </p:nvSpPr>
        <p:spPr>
          <a:xfrm>
            <a:off x="548625" y="1554480"/>
            <a:ext cx="549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804651" y="1682496"/>
            <a:ext cx="493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804651" y="2048256"/>
            <a:ext cx="4937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G(s) = 100 / [s(s+10)]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H(s) = 1 / (s+5)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Armadilha comum: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G(s) sozinho parece Tipo 1 (tem um polo na origem) — mas essa conclusão é precipitada, pois a realimentação não é unitária.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6217754" y="1554480"/>
            <a:ext cx="5422500" cy="42978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6217754" y="1554480"/>
            <a:ext cx="54900" cy="42978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6473779" y="1682496"/>
            <a:ext cx="496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Após a conversão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6473779" y="2048256"/>
            <a:ext cx="4965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Ge(s) = 100(s+5) / (s³+15s²−50s−400)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Sem integrações puras → sistema é, na verdade, Tipo 0.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433C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Kp = 100×5 / (−400) = −5/4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2A252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e(∞) = 1/(1+Kp) = −4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548625" y="5989320"/>
            <a:ext cx="1106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1050"/>
              <a:buFont typeface="Calibri"/>
              <a:buNone/>
            </a:pPr>
            <a:r>
              <a:rPr b="0" i="1" lang="en-US" sz="1500" u="none" cap="none" strike="noStrike">
                <a:solidFill>
                  <a:srgbClr val="8B6B3D"/>
                </a:solidFill>
                <a:latin typeface="Calibri"/>
                <a:ea typeface="Calibri"/>
                <a:cs typeface="Calibri"/>
                <a:sym typeface="Calibri"/>
              </a:rPr>
              <a:t>O valor negativo indica que o degrau de saída é maior que o degrau de entrada.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"/>
          <p:cNvSpPr/>
          <p:nvPr/>
        </p:nvSpPr>
        <p:spPr>
          <a:xfrm>
            <a:off x="548625" y="4114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521"/>
              </a:buClr>
              <a:buSzPts val="2600"/>
              <a:buFont typeface="Georgia"/>
              <a:buNone/>
            </a:pPr>
            <a:r>
              <a:rPr lang="en-US" sz="3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Caso Geral: Perturbação + Realimentação Não Unitária</a:t>
            </a:r>
            <a:endParaRPr sz="32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548625" y="1143000"/>
            <a:ext cx="1106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33C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Para uma entrada em degrau e uma perturbação em degrau simultâneas, o erro em regime permanente se anula somente se as quatro condições abaixo forem satisfeitas.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548625" y="1874520"/>
            <a:ext cx="2697600" cy="35661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548625" y="1874520"/>
            <a:ext cx="54900" cy="35661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804651" y="2002536"/>
            <a:ext cx="2240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i="0" lang="en-US" sz="2000" u="none" cap="none" strike="noStrike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Estabilidade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O sistema em malha fechada deve ser estável.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3465484" y="1874520"/>
            <a:ext cx="2697600" cy="35661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0"/>
          <p:cNvSpPr/>
          <p:nvPr/>
        </p:nvSpPr>
        <p:spPr>
          <a:xfrm>
            <a:off x="3465484" y="1874520"/>
            <a:ext cx="54900" cy="35661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0"/>
          <p:cNvSpPr/>
          <p:nvPr/>
        </p:nvSpPr>
        <p:spPr>
          <a:xfrm>
            <a:off x="3721509" y="2002536"/>
            <a:ext cx="2240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G1(s) — Tipo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O controlador precisa fornecer a integração pura.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6382342" y="1874520"/>
            <a:ext cx="2697600" cy="35661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6382342" y="1874520"/>
            <a:ext cx="54900" cy="35661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0"/>
          <p:cNvSpPr/>
          <p:nvPr/>
        </p:nvSpPr>
        <p:spPr>
          <a:xfrm>
            <a:off x="6638367" y="2002536"/>
            <a:ext cx="2240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G2(s) — Tipo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 planta não deve introduzir integrações adicionais.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9299200" y="1874520"/>
            <a:ext cx="2697600" cy="3566100"/>
          </a:xfrm>
          <a:prstGeom prst="rect">
            <a:avLst/>
          </a:prstGeom>
          <a:solidFill>
            <a:srgbClr val="F3F1EE"/>
          </a:solidFill>
          <a:ln cap="flat" cmpd="sng" w="12700">
            <a:solidFill>
              <a:srgbClr val="E4E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9299200" y="1874520"/>
            <a:ext cx="54900" cy="3566100"/>
          </a:xfrm>
          <a:prstGeom prst="rect">
            <a:avLst/>
          </a:prstGeom>
          <a:solidFill>
            <a:srgbClr val="3B32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9555225" y="2002536"/>
            <a:ext cx="22404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8B6B3D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2A2521"/>
              </a:buClr>
              <a:buSzPts val="1350"/>
              <a:buFont typeface="Calibri"/>
              <a:buNone/>
            </a:pPr>
            <a:r>
              <a:rPr b="1" lang="en-US" sz="2000">
                <a:solidFill>
                  <a:srgbClr val="2A2521"/>
                </a:solidFill>
                <a:latin typeface="Calibri"/>
                <a:ea typeface="Calibri"/>
                <a:cs typeface="Calibri"/>
                <a:sym typeface="Calibri"/>
              </a:rPr>
              <a:t>H(s) — Tipo 0, ganho unitário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4A433C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A realimentação deve ter ganho estático igual a 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548625" y="5669280"/>
            <a:ext cx="1106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B3D"/>
              </a:buClr>
              <a:buSzPts val="1100"/>
              <a:buFont typeface="Calibri"/>
              <a:buNone/>
            </a:pPr>
            <a:r>
              <a:rPr lang="en-US" sz="1500">
                <a:solidFill>
                  <a:srgbClr val="4A433C"/>
                </a:solidFill>
                <a:latin typeface="Calibri"/>
                <a:ea typeface="Calibri"/>
                <a:cs typeface="Calibri"/>
                <a:sym typeface="Calibri"/>
              </a:rPr>
              <a:t>Também é possível trabalhar diretamente com o sinal de atuação em regime permanente, ea1(∞), quando as unidades de entrada e saída são diferentes.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11548564" y="640080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9B2A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9B2A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661463" y="2948228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b="0" i="0" lang="en-US" sz="38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Sensibilidade e Erro </a:t>
            </a: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</a:t>
            </a:r>
            <a:r>
              <a:rPr b="0" i="0" lang="en-US" sz="38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Espaço de Estados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661463" y="3614482"/>
            <a:ext cx="1086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Análise de Erros em Regime Permanente (Seções 7.7 e 7.8 - Norman S. Nise)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3" y="113407"/>
            <a:ext cx="4420680" cy="663118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2"/>
          <p:cNvSpPr/>
          <p:nvPr/>
        </p:nvSpPr>
        <p:spPr>
          <a:xfrm>
            <a:off x="5233360" y="686991"/>
            <a:ext cx="6296860" cy="9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950"/>
              <a:buFont typeface="Platypi Medium"/>
              <a:buNone/>
            </a:pPr>
            <a:r>
              <a:rPr b="0" i="0" lang="en-US" sz="2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 Conceito de Sensibilidade (Seção 7.7)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7" name="Google Shape;447;p32"/>
          <p:cNvGrpSpPr/>
          <p:nvPr/>
        </p:nvGrpSpPr>
        <p:grpSpPr>
          <a:xfrm>
            <a:off x="5233348" y="3479277"/>
            <a:ext cx="6296858" cy="1302345"/>
            <a:chOff x="5233360" y="3445290"/>
            <a:chExt cx="6296858" cy="1302345"/>
          </a:xfrm>
        </p:grpSpPr>
        <p:pic>
          <p:nvPicPr>
            <p:cNvPr descr="preencoded.png" id="448" name="Google Shape;44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33360" y="3445290"/>
              <a:ext cx="6296858" cy="13023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2"/>
            <p:cNvSpPr/>
            <p:nvPr/>
          </p:nvSpPr>
          <p:spPr>
            <a:xfrm>
              <a:off x="5441739" y="3549274"/>
              <a:ext cx="5880300" cy="23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4C49"/>
                </a:buClr>
                <a:buSzPts val="1450"/>
                <a:buFont typeface="Platypi Medium"/>
                <a:buNone/>
              </a:pPr>
              <a:r>
                <a:rPr b="0" i="0" lang="en-US" sz="1650" u="none" cap="none" strike="noStrike">
                  <a:solidFill>
                    <a:srgbClr val="504C49"/>
                  </a:solidFill>
                  <a:latin typeface="Platypi Medium"/>
                  <a:ea typeface="Platypi Medium"/>
                  <a:cs typeface="Platypi Medium"/>
                  <a:sym typeface="Platypi Medium"/>
                </a:rPr>
                <a:t>O que é Sensibilidade?</a:t>
              </a:r>
              <a:endPara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5479839" y="3878706"/>
              <a:ext cx="5880300" cy="6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4C49"/>
                </a:buClr>
                <a:buSzPts val="1150"/>
                <a:buFont typeface="Source Serif 4"/>
                <a:buNone/>
              </a:pPr>
              <a:r>
                <a:rPr b="0" i="0" lang="en-US" sz="1350" u="none" cap="none" strike="noStrike">
                  <a:solidFill>
                    <a:srgbClr val="504C49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É a medida de quanto </a:t>
              </a:r>
              <a:r>
                <a:rPr b="0" i="0" lang="en-US" sz="1350" u="none" cap="none" strike="noStrike">
                  <a:solidFill>
                    <a:srgbClr val="504C49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 desempenho geral de um sistema (como sua função de transferência ou seu erro em regime permanente) é degradado devido a variações nos parâmetros internos.</a:t>
              </a:r>
              <a:endPara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451" name="Google Shape;45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50" y="4991100"/>
            <a:ext cx="6296874" cy="1302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2"/>
          <p:cNvSpPr/>
          <p:nvPr/>
        </p:nvSpPr>
        <p:spPr>
          <a:xfrm>
            <a:off x="5479814" y="5114917"/>
            <a:ext cx="5880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 </a:t>
            </a: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Objetivo </a:t>
            </a:r>
            <a:r>
              <a:rPr lang="en-US" sz="1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</a:t>
            </a: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deal</a:t>
            </a: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d</a:t>
            </a: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</a:t>
            </a: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Projeto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2"/>
          <p:cNvSpPr/>
          <p:nvPr/>
        </p:nvSpPr>
        <p:spPr>
          <a:xfrm>
            <a:off x="5479825" y="5443292"/>
            <a:ext cx="58803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Source Serif 4"/>
              <a:buNone/>
            </a:pPr>
            <a:r>
              <a:rPr lang="en-US" sz="13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Em um sistema de c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ontrole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</a:t>
            </a:r>
            <a:r>
              <a:rPr lang="en-US" sz="13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ce</a:t>
            </a:r>
            <a:r>
              <a:rPr lang="en-US" sz="13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nário ótimo é de uma 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sensibilidade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próxima de </a:t>
            </a:r>
            <a:r>
              <a:rPr b="1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zero</a:t>
            </a:r>
            <a:r>
              <a:rPr b="0" i="0" lang="en-US" sz="13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 Queremos que o sistema seja "imune" às </a:t>
            </a:r>
            <a:r>
              <a:rPr lang="en-US" sz="13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variações de parâmetros.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4" name="Google Shape;454;p32"/>
          <p:cNvGrpSpPr/>
          <p:nvPr/>
        </p:nvGrpSpPr>
        <p:grpSpPr>
          <a:xfrm>
            <a:off x="5233338" y="1814512"/>
            <a:ext cx="6296873" cy="1455275"/>
            <a:chOff x="5233350" y="1760650"/>
            <a:chExt cx="6296873" cy="1455275"/>
          </a:xfrm>
        </p:grpSpPr>
        <p:pic>
          <p:nvPicPr>
            <p:cNvPr descr="preencoded.png" id="455" name="Google Shape;455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33350" y="1760650"/>
              <a:ext cx="6296873" cy="145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32"/>
            <p:cNvSpPr/>
            <p:nvPr/>
          </p:nvSpPr>
          <p:spPr>
            <a:xfrm>
              <a:off x="5441627" y="1851049"/>
              <a:ext cx="5880300" cy="23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4C49"/>
                </a:buClr>
                <a:buSzPts val="1450"/>
                <a:buFont typeface="Platypi Medium"/>
                <a:buNone/>
              </a:pPr>
              <a:r>
                <a:rPr lang="en-US" sz="1650">
                  <a:solidFill>
                    <a:srgbClr val="504C49"/>
                  </a:solidFill>
                  <a:latin typeface="Platypi Medium"/>
                  <a:ea typeface="Platypi Medium"/>
                  <a:cs typeface="Platypi Medium"/>
                  <a:sym typeface="Platypi Medium"/>
                </a:rPr>
                <a:t>Problemática</a:t>
              </a:r>
              <a:endParaRPr b="0" i="0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5441638" y="2165073"/>
              <a:ext cx="5880300" cy="89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04C49"/>
                </a:buClr>
                <a:buSzPts val="1150"/>
                <a:buFont typeface="Source Serif 4"/>
                <a:buNone/>
              </a:pPr>
              <a:r>
                <a:rPr lang="en-US" sz="1350">
                  <a:solidFill>
                    <a:srgbClr val="504C49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Durante o processo de projeto, o engenheiro pode querer  avaliar o impacto das variações dos parâmetros no comportamento do sistema, uma vez que fenômenos físicos, como a temperatura, podem provocar essas oscilações.</a:t>
              </a:r>
              <a:endParaRPr sz="13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/>
          <p:nvPr/>
        </p:nvSpPr>
        <p:spPr>
          <a:xfrm>
            <a:off x="661475" y="712986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50"/>
              <a:buFont typeface="Platypi Medium"/>
              <a:buNone/>
            </a:pPr>
            <a:r>
              <a:rPr lang="en-US" sz="31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Formalização</a:t>
            </a:r>
            <a:r>
              <a:rPr b="0" i="0" lang="en-US" sz="31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da Sensibilidade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661463" y="1317036"/>
            <a:ext cx="1086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 razão entre a variação relativa da função e a variação relativa do parâmetro quando a variação relativa do parâmetro tende a zero.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661513" y="4093400"/>
            <a:ext cx="108687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Source Serif 4"/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Aplicando</a:t>
            </a:r>
            <a:r>
              <a:rPr b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 limite de </a:t>
            </a: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Δ</a:t>
            </a:r>
            <a:r>
              <a:rPr b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</a:t>
            </a: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tendendo a</a:t>
            </a:r>
            <a:r>
              <a:rPr b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0</a:t>
            </a: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saímos da variação média para uma variação instantânea, ou seja, uma </a:t>
            </a:r>
            <a:r>
              <a:rPr b="1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derivada parcial</a:t>
            </a: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já que foi isolada a variação de apenas um único parâmetro</a:t>
            </a:r>
            <a:r>
              <a:rPr b="0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endParaRPr b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3000"/>
              </a:lnSpc>
              <a:spcBef>
                <a:spcPts val="120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Source Serif 4"/>
              <a:buNone/>
            </a:pPr>
            <a:r>
              <a:rPr b="1" lang="en-US" sz="16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Fórmula Final:</a:t>
            </a:r>
            <a:endParaRPr b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937" y="2096276"/>
            <a:ext cx="4637875" cy="16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9050" y="5125401"/>
            <a:ext cx="1473574" cy="7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/>
          <p:nvPr/>
        </p:nvSpPr>
        <p:spPr>
          <a:xfrm>
            <a:off x="1191050" y="2139350"/>
            <a:ext cx="5135100" cy="1532400"/>
          </a:xfrm>
          <a:prstGeom prst="roundRect">
            <a:avLst>
              <a:gd fmla="val 2766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113125" lIns="113125" spcFirstLastPara="1" rIns="113125" wrap="square" tIns="11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2"/>
          </a:p>
        </p:txBody>
      </p:sp>
      <p:sp>
        <p:nvSpPr>
          <p:cNvPr id="474" name="Google Shape;474;p34"/>
          <p:cNvSpPr/>
          <p:nvPr/>
        </p:nvSpPr>
        <p:spPr>
          <a:xfrm>
            <a:off x="661475" y="712986"/>
            <a:ext cx="10868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50"/>
              <a:buFont typeface="Platypi Medium"/>
              <a:buNone/>
            </a:pPr>
            <a:r>
              <a:rPr lang="en-US" sz="31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4"/>
          <p:cNvSpPr/>
          <p:nvPr/>
        </p:nvSpPr>
        <p:spPr>
          <a:xfrm>
            <a:off x="661463" y="1317036"/>
            <a:ext cx="1086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Dado o sistema a seguir, calcule a sensibilidade a variações no parâmetro ‘a’ da função de transferência em malha fechada. Como você poderia reduzir a sensibilidade?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pic>
        <p:nvPicPr>
          <p:cNvPr id="476" name="Google Shape;4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19" y="2279498"/>
            <a:ext cx="4897962" cy="127697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4"/>
          <p:cNvSpPr txBox="1"/>
          <p:nvPr/>
        </p:nvSpPr>
        <p:spPr>
          <a:xfrm>
            <a:off x="7344825" y="2199200"/>
            <a:ext cx="3000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função de transferência em malha fechada é:</a:t>
            </a:r>
            <a:endParaRPr/>
          </a:p>
        </p:txBody>
      </p:sp>
      <p:pic>
        <p:nvPicPr>
          <p:cNvPr id="478" name="Google Shape;47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5400" y="2949713"/>
            <a:ext cx="2186066" cy="6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9538" y="4063350"/>
            <a:ext cx="6594721" cy="10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4"/>
          <p:cNvSpPr txBox="1"/>
          <p:nvPr/>
        </p:nvSpPr>
        <p:spPr>
          <a:xfrm>
            <a:off x="603250" y="4197663"/>
            <a:ext cx="2354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Aplicando a fórmula de sensibilidade:</a:t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661488" y="5474502"/>
            <a:ext cx="10868700" cy="973800"/>
          </a:xfrm>
          <a:prstGeom prst="roundRect">
            <a:avLst>
              <a:gd fmla="val 2766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832" y="5871661"/>
            <a:ext cx="224427" cy="1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4"/>
          <p:cNvSpPr/>
          <p:nvPr/>
        </p:nvSpPr>
        <p:spPr>
          <a:xfrm>
            <a:off x="1042954" y="5681356"/>
            <a:ext cx="101058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ource Serif 4"/>
              <a:buNone/>
            </a:pPr>
            <a:r>
              <a:rPr lang="en-US" sz="1600">
                <a:latin typeface="Source Serif 4"/>
                <a:ea typeface="Source Serif 4"/>
                <a:cs typeface="Source Serif 4"/>
                <a:sym typeface="Source Serif 4"/>
              </a:rPr>
              <a:t>Para qualquer valor de s, um aumento em K reduz a sensibilidade da função de transferência em malha fechada a variações do parâmetro a.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"/>
          <p:cNvSpPr/>
          <p:nvPr/>
        </p:nvSpPr>
        <p:spPr>
          <a:xfrm>
            <a:off x="4918800" y="1901137"/>
            <a:ext cx="2354100" cy="978900"/>
          </a:xfrm>
          <a:prstGeom prst="roundRect">
            <a:avLst>
              <a:gd fmla="val 2766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88775" lIns="88775" spcFirstLastPara="1" rIns="88775" wrap="square" tIns="88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9"/>
          </a:p>
        </p:txBody>
      </p:sp>
      <p:sp>
        <p:nvSpPr>
          <p:cNvPr id="490" name="Google Shape;490;p35"/>
          <p:cNvSpPr/>
          <p:nvPr/>
        </p:nvSpPr>
        <p:spPr>
          <a:xfrm>
            <a:off x="661475" y="712986"/>
            <a:ext cx="10868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50"/>
              <a:buFont typeface="Platypi Medium"/>
              <a:buNone/>
            </a:pPr>
            <a:r>
              <a:rPr lang="en-US" sz="31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2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661463" y="1317036"/>
            <a:ext cx="1086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Considerando o erro em regime permanente a seguir determine a sensibilidade a variações do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parâmetro ‘K’ e do parâmetro ‘a’: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7960763" y="2969225"/>
            <a:ext cx="3000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sensibilidade de e(∞) a variações do parâmetro a é:</a:t>
            </a:r>
            <a:endParaRPr/>
          </a:p>
        </p:txBody>
      </p:sp>
      <p:sp>
        <p:nvSpPr>
          <p:cNvPr id="493" name="Google Shape;493;p35"/>
          <p:cNvSpPr txBox="1"/>
          <p:nvPr/>
        </p:nvSpPr>
        <p:spPr>
          <a:xfrm>
            <a:off x="1230888" y="2969238"/>
            <a:ext cx="3000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sensibilidade de e(∞) a variações do parâmetro K é:</a:t>
            </a: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661488" y="5474502"/>
            <a:ext cx="10868700" cy="973800"/>
          </a:xfrm>
          <a:prstGeom prst="roundRect">
            <a:avLst>
              <a:gd fmla="val 2766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832" y="5871661"/>
            <a:ext cx="224427" cy="179487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35"/>
          <p:cNvSpPr/>
          <p:nvPr/>
        </p:nvSpPr>
        <p:spPr>
          <a:xfrm>
            <a:off x="1042954" y="5681356"/>
            <a:ext cx="101058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erif 4"/>
              <a:buChar char="-"/>
            </a:pPr>
            <a:r>
              <a:rPr lang="en-US" sz="1600">
                <a:latin typeface="Source Serif 4"/>
                <a:ea typeface="Source Serif 4"/>
                <a:cs typeface="Source Serif 4"/>
                <a:sym typeface="Source Serif 4"/>
              </a:rPr>
              <a:t>Variações tanto em a quanto em K são refletidas diretamente em e(∞);</a:t>
            </a:r>
            <a:endParaRPr sz="16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30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ource Serif 4"/>
              <a:buChar char="-"/>
            </a:pPr>
            <a:r>
              <a:rPr lang="en-US" sz="1600">
                <a:latin typeface="Source Serif 4"/>
                <a:ea typeface="Source Serif 4"/>
                <a:cs typeface="Source Serif 4"/>
                <a:sym typeface="Source Serif 4"/>
              </a:rPr>
              <a:t>O sinal negativo indica uma diminuição em e(∞) para um aumento em K;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4701" y="1968251"/>
            <a:ext cx="2242337" cy="844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2100" y="3720150"/>
            <a:ext cx="3217360" cy="7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6530" y="3720150"/>
            <a:ext cx="3648739" cy="7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/>
          <p:nvPr/>
        </p:nvSpPr>
        <p:spPr>
          <a:xfrm>
            <a:off x="661475" y="560288"/>
            <a:ext cx="108687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 Medium"/>
              <a:buNone/>
            </a:pPr>
            <a:r>
              <a:rPr lang="en-US" sz="35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 no</a:t>
            </a:r>
            <a:r>
              <a:rPr b="0" i="0" lang="en-US" sz="35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Espaço de Estados (Seção 7.8)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/>
          <p:nvPr/>
        </p:nvSpPr>
        <p:spPr>
          <a:xfrm>
            <a:off x="532100" y="1220375"/>
            <a:ext cx="5474100" cy="4325400"/>
          </a:xfrm>
          <a:prstGeom prst="roundRect">
            <a:avLst>
              <a:gd fmla="val 738" name="adj"/>
            </a:avLst>
          </a:prstGeom>
          <a:solidFill>
            <a:srgbClr val="3E25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711654" y="1329878"/>
            <a:ext cx="5115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Platypi Medium"/>
              <a:buNone/>
            </a:pPr>
            <a:r>
              <a:rPr lang="en-US" sz="1750">
                <a:solidFill>
                  <a:srgbClr val="FFFFFF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Representação no Espaço de Estados</a:t>
            </a:r>
            <a:endParaRPr sz="1750">
              <a:solidFill>
                <a:srgbClr val="FFFFFF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508" name="Google Shape;508;p36"/>
          <p:cNvSpPr/>
          <p:nvPr/>
        </p:nvSpPr>
        <p:spPr>
          <a:xfrm>
            <a:off x="711650" y="1878000"/>
            <a:ext cx="5115000" cy="3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erif 4"/>
              <a:buChar char="●"/>
            </a:pPr>
            <a:r>
              <a:rPr lang="en-US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Consiste: nas equações diferenciais de primeira ordem simultâneas a partir das quais pode ser obtida a solução para as variáveis de estado; e também na equação algébrica de saída a partir da qual todas as demais variáveis do sistema podem ser obtidas;</a:t>
            </a:r>
            <a:endParaRPr>
              <a:solidFill>
                <a:srgbClr val="FFFF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erif 4"/>
              <a:buChar char="●"/>
            </a:pPr>
            <a:r>
              <a:rPr lang="en-US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Pode ser utilizada para representar sistemas não lineares que </a:t>
            </a:r>
            <a:r>
              <a:rPr lang="en-US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possuem</a:t>
            </a:r>
            <a:r>
              <a:rPr lang="en-US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folgas, saturação, zona morta e sistemas com condições iniciais não nulas;</a:t>
            </a:r>
            <a:endParaRPr>
              <a:solidFill>
                <a:srgbClr val="FFFF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erif 4"/>
              <a:buChar char="●"/>
            </a:pPr>
            <a:r>
              <a:rPr lang="en-US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Existem vários pacotes de programas que trabalham com o espaço de estados</a:t>
            </a:r>
            <a:endParaRPr>
              <a:solidFill>
                <a:srgbClr val="FFFFFF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6314917" y="1329865"/>
            <a:ext cx="5215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750"/>
              <a:buFont typeface="Platypi Medium"/>
              <a:buNone/>
            </a:pPr>
            <a:r>
              <a:rPr b="0" i="0" lang="en-US" sz="1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 Abordagem </a:t>
            </a:r>
            <a:r>
              <a:rPr lang="en-US" sz="1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</a:t>
            </a:r>
            <a:r>
              <a:rPr b="0" i="0" lang="en-US" sz="1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 Espaço de Estados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/>
          <p:nvPr/>
        </p:nvSpPr>
        <p:spPr>
          <a:xfrm>
            <a:off x="661475" y="5737523"/>
            <a:ext cx="108687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Source Serif 4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Como calcular o erro em regime permanente </a:t>
            </a:r>
            <a:r>
              <a:rPr b="0" i="1" lang="en-US" sz="17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e(</a:t>
            </a:r>
            <a:r>
              <a:rPr i="1" lang="en-US" sz="17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∞</a:t>
            </a:r>
            <a:r>
              <a:rPr b="0" i="1" lang="en-US" sz="17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)</a:t>
            </a:r>
            <a:r>
              <a:rPr b="0" i="0" lang="en-US" sz="1700" u="none" cap="none" strike="noStrike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quando o sistema está modelado dessa forma matricial? O livro apresenta dois métodos principais.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4925" y="2791250"/>
            <a:ext cx="4745535" cy="275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375" y="1610375"/>
            <a:ext cx="1437176" cy="118087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6"/>
          <p:cNvSpPr/>
          <p:nvPr/>
        </p:nvSpPr>
        <p:spPr>
          <a:xfrm>
            <a:off x="9399550" y="1707950"/>
            <a:ext cx="1722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Equação de Estado</a:t>
            </a:r>
            <a:endParaRPr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9399550" y="2437975"/>
            <a:ext cx="1806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Equação de Saída</a:t>
            </a:r>
            <a:endParaRPr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7"/>
          <p:cNvSpPr/>
          <p:nvPr/>
        </p:nvSpPr>
        <p:spPr>
          <a:xfrm>
            <a:off x="661475" y="531316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b="0" i="0" lang="en-US" sz="3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Método 1 — Teorema do Valor Final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/>
          <p:nvPr/>
        </p:nvSpPr>
        <p:spPr>
          <a:xfrm>
            <a:off x="661475" y="1218371"/>
            <a:ext cx="10868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b="1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Abordagem:</a:t>
            </a:r>
            <a:r>
              <a:rPr b="0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 </a:t>
            </a:r>
            <a:r>
              <a:rPr lang="en-US" sz="14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livro</a:t>
            </a:r>
            <a:r>
              <a:rPr b="0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14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assume um sistema em que a matriz de transmissão direta é nula (D = 0) e o método </a:t>
            </a:r>
            <a:r>
              <a:rPr b="0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consiste em extrair a matriz de transferência em malha fechada do espaço de estados e aplicar o</a:t>
            </a:r>
            <a:r>
              <a:rPr lang="en-US" sz="14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0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Teorema do Valor Final.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7"/>
          <p:cNvSpPr/>
          <p:nvPr/>
        </p:nvSpPr>
        <p:spPr>
          <a:xfrm>
            <a:off x="6732567" y="6018376"/>
            <a:ext cx="422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89"/>
              <a:buFont typeface="Source Serif 4"/>
              <a:buNone/>
            </a:pPr>
            <a:r>
              <a:rPr b="0" i="0" lang="en-US" sz="1289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Exige o cálculo da </a:t>
            </a:r>
            <a:r>
              <a:rPr b="1" i="0" lang="en-US" sz="1289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inversa simbólica</a:t>
            </a:r>
            <a:r>
              <a:rPr b="0" i="0" lang="en-US" sz="1289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da matriz </a:t>
            </a:r>
            <a:r>
              <a:rPr b="0" i="1" lang="en-US" sz="1289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(sI - A)</a:t>
            </a:r>
            <a:r>
              <a:rPr b="0" i="0" lang="en-US" sz="1289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endParaRPr b="0" i="0" sz="12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8213" y="5365667"/>
            <a:ext cx="4353125" cy="65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8766" y="3981425"/>
            <a:ext cx="3358920" cy="790609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7"/>
          <p:cNvSpPr/>
          <p:nvPr/>
        </p:nvSpPr>
        <p:spPr>
          <a:xfrm>
            <a:off x="7165304" y="4737107"/>
            <a:ext cx="33588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5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Conversão do Espaço de Estados para uma Função de Transferência (3.6)</a:t>
            </a:r>
            <a:endParaRPr sz="1245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526" name="Google Shape;52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3825" y="1922713"/>
            <a:ext cx="4041903" cy="19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187" y="1867375"/>
            <a:ext cx="4645041" cy="398420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7"/>
          <p:cNvSpPr/>
          <p:nvPr/>
        </p:nvSpPr>
        <p:spPr>
          <a:xfrm>
            <a:off x="919613" y="5851575"/>
            <a:ext cx="3778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Aplicando o Teorema do Valor Final</a:t>
            </a:r>
            <a:endParaRPr sz="12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529" name="Google Shape;52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14663" y="6076175"/>
            <a:ext cx="1588104" cy="27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p37"/>
          <p:cNvCxnSpPr/>
          <p:nvPr/>
        </p:nvCxnSpPr>
        <p:spPr>
          <a:xfrm>
            <a:off x="4450575" y="5700350"/>
            <a:ext cx="2007600" cy="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1" name="Google Shape;531;p37"/>
          <p:cNvCxnSpPr/>
          <p:nvPr/>
        </p:nvCxnSpPr>
        <p:spPr>
          <a:xfrm flipH="1">
            <a:off x="3194575" y="4417100"/>
            <a:ext cx="3609000" cy="45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8"/>
          <p:cNvSpPr/>
          <p:nvPr/>
        </p:nvSpPr>
        <p:spPr>
          <a:xfrm>
            <a:off x="3032363" y="2292425"/>
            <a:ext cx="6126900" cy="1164000"/>
          </a:xfrm>
          <a:prstGeom prst="roundRect">
            <a:avLst>
              <a:gd fmla="val 2766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113125" lIns="113125" spcFirstLastPara="1" rIns="113125" wrap="square" tIns="11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2"/>
          </a:p>
        </p:txBody>
      </p:sp>
      <p:sp>
        <p:nvSpPr>
          <p:cNvPr id="538" name="Google Shape;538;p38"/>
          <p:cNvSpPr/>
          <p:nvPr/>
        </p:nvSpPr>
        <p:spPr>
          <a:xfrm>
            <a:off x="661475" y="712986"/>
            <a:ext cx="10868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50"/>
              <a:buFont typeface="Platypi Medium"/>
              <a:buNone/>
            </a:pPr>
            <a:r>
              <a:rPr lang="en-US" sz="31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do Método 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8"/>
          <p:cNvSpPr/>
          <p:nvPr/>
        </p:nvSpPr>
        <p:spPr>
          <a:xfrm>
            <a:off x="661463" y="1317036"/>
            <a:ext cx="1086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Calcule o erro em regime permanente para o sistema descrito a seguir para entradas em degrau unitário e em rampa unitária. Utilize o teorema do valor final.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pic>
        <p:nvPicPr>
          <p:cNvPr id="540" name="Google Shape;5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2996" y="2397721"/>
            <a:ext cx="5985624" cy="9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2238" y="4163550"/>
            <a:ext cx="5227000" cy="1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8"/>
          <p:cNvSpPr txBox="1"/>
          <p:nvPr/>
        </p:nvSpPr>
        <p:spPr>
          <a:xfrm>
            <a:off x="7349438" y="4302650"/>
            <a:ext cx="3000000" cy="1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 um degrau unitário, R(s) = 1/s e e(∞) = 4/5.</a:t>
            </a:r>
            <a:endParaRPr sz="1650">
              <a:solidFill>
                <a:srgbClr val="504C4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 uma rampa unitária, R(s) = 1/s2 e e(∞) = ∞.</a:t>
            </a:r>
            <a:endParaRPr/>
          </a:p>
        </p:txBody>
      </p:sp>
      <p:sp>
        <p:nvSpPr>
          <p:cNvPr id="543" name="Google Shape;543;p38"/>
          <p:cNvSpPr/>
          <p:nvPr/>
        </p:nvSpPr>
        <p:spPr>
          <a:xfrm>
            <a:off x="5550263" y="3670338"/>
            <a:ext cx="1091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Gabarito: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9"/>
          <p:cNvSpPr/>
          <p:nvPr/>
        </p:nvSpPr>
        <p:spPr>
          <a:xfrm>
            <a:off x="661475" y="712986"/>
            <a:ext cx="108687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50"/>
              <a:buFont typeface="Platypi Medium"/>
              <a:buNone/>
            </a:pPr>
            <a:r>
              <a:rPr lang="en-US" sz="31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Exemplo do Método 1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0" name="Google Shape;55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13" y="1309876"/>
            <a:ext cx="4296100" cy="40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663" y="1309886"/>
            <a:ext cx="6905300" cy="3609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5475" y="5412876"/>
            <a:ext cx="5400675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/>
          <p:nvPr/>
        </p:nvSpPr>
        <p:spPr>
          <a:xfrm>
            <a:off x="661475" y="607516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 Medium"/>
              <a:buNone/>
            </a:pPr>
            <a:r>
              <a:rPr b="0" i="0" lang="en-US" sz="35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Método 2 — Substituição da Entrada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0"/>
          <p:cNvSpPr/>
          <p:nvPr/>
        </p:nvSpPr>
        <p:spPr>
          <a:xfrm>
            <a:off x="661475" y="1218371"/>
            <a:ext cx="10868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b="1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Abordagem:</a:t>
            </a:r>
            <a:r>
              <a:rPr b="0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14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premissa central deste método é assumir uma forma para o vetor de estado no regime permanente (x) baseada na forma do sinal de entrada r(t).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0" name="Google Shape;560;p40"/>
          <p:cNvPicPr preferRelativeResize="0"/>
          <p:nvPr/>
        </p:nvPicPr>
        <p:blipFill rotWithShape="1">
          <a:blip r:embed="rId3">
            <a:alphaModFix/>
          </a:blip>
          <a:srcRect b="66952" l="0" r="0" t="0"/>
          <a:stretch/>
        </p:blipFill>
        <p:spPr>
          <a:xfrm>
            <a:off x="1152125" y="2505925"/>
            <a:ext cx="4645050" cy="13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0"/>
          <p:cNvSpPr txBox="1"/>
          <p:nvPr/>
        </p:nvSpPr>
        <p:spPr>
          <a:xfrm>
            <a:off x="1188724" y="3877150"/>
            <a:ext cx="47184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Entrada estabiliza em um valor constante → no infinito → as variáveis de estado também se </a:t>
            </a: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estabilizam</a:t>
            </a: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em valores constantes.</a:t>
            </a:r>
            <a:endParaRPr/>
          </a:p>
        </p:txBody>
      </p:sp>
      <p:sp>
        <p:nvSpPr>
          <p:cNvPr id="562" name="Google Shape;562;p40"/>
          <p:cNvSpPr/>
          <p:nvPr/>
        </p:nvSpPr>
        <p:spPr>
          <a:xfrm>
            <a:off x="1152125" y="2003900"/>
            <a:ext cx="2521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Degrau Unitário (r = 1):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pic>
        <p:nvPicPr>
          <p:cNvPr id="563" name="Google Shape;5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000" y="4940649"/>
            <a:ext cx="1683175" cy="13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9924" y="5423334"/>
            <a:ext cx="10001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1175" y="2840314"/>
            <a:ext cx="1291358" cy="88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12275" y="2795874"/>
            <a:ext cx="1234766" cy="320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7" name="Google Shape;567;p40"/>
          <p:cNvCxnSpPr>
            <a:endCxn id="566" idx="1"/>
          </p:cNvCxnSpPr>
          <p:nvPr/>
        </p:nvCxnSpPr>
        <p:spPr>
          <a:xfrm flipH="1" rot="10800000">
            <a:off x="7678475" y="2956159"/>
            <a:ext cx="433800" cy="2700"/>
          </a:xfrm>
          <a:prstGeom prst="straightConnector1">
            <a:avLst/>
          </a:prstGeom>
          <a:noFill/>
          <a:ln cap="flat" cmpd="sng" w="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8" name="Google Shape;568;p40"/>
          <p:cNvSpPr txBox="1"/>
          <p:nvPr/>
        </p:nvSpPr>
        <p:spPr>
          <a:xfrm>
            <a:off x="6321175" y="2367199"/>
            <a:ext cx="4718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Substituindo:</a:t>
            </a:r>
            <a:endParaRPr/>
          </a:p>
        </p:txBody>
      </p:sp>
      <p:sp>
        <p:nvSpPr>
          <p:cNvPr id="569" name="Google Shape;569;p40"/>
          <p:cNvSpPr txBox="1"/>
          <p:nvPr/>
        </p:nvSpPr>
        <p:spPr>
          <a:xfrm>
            <a:off x="6321175" y="3877150"/>
            <a:ext cx="51192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 erro em regime permanente é a diferença entre a entrada em regime permanente e a saída em regime permanente:</a:t>
            </a:r>
            <a:endParaRPr sz="1650">
              <a:solidFill>
                <a:srgbClr val="504C4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570" name="Google Shape;570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2287" y="5197525"/>
            <a:ext cx="4816975" cy="65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/>
          <p:nvPr/>
        </p:nvSpPr>
        <p:spPr>
          <a:xfrm>
            <a:off x="661475" y="607516"/>
            <a:ext cx="108687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00"/>
              <a:buFont typeface="Platypi Medium"/>
              <a:buNone/>
            </a:pPr>
            <a:r>
              <a:rPr b="0" i="0" lang="en-US" sz="35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Método 2 — Substituição da Entrada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661475" y="1218371"/>
            <a:ext cx="10868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Source Serif 4"/>
              <a:buNone/>
            </a:pPr>
            <a:r>
              <a:rPr b="1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Abordagem:</a:t>
            </a:r>
            <a:r>
              <a:rPr b="0" i="0" lang="en-US" sz="1450" u="none" cap="none" strike="noStrike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14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premissa central deste método é assumir uma forma para o vetor de estado no regime permanente (x) baseada na forma do sinal de entrada r(t).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" name="Google Shape;578;p41"/>
          <p:cNvPicPr preferRelativeResize="0"/>
          <p:nvPr/>
        </p:nvPicPr>
        <p:blipFill rotWithShape="1">
          <a:blip r:embed="rId3">
            <a:alphaModFix/>
          </a:blip>
          <a:srcRect b="66952" l="0" r="0" t="0"/>
          <a:stretch/>
        </p:blipFill>
        <p:spPr>
          <a:xfrm>
            <a:off x="1152125" y="2505925"/>
            <a:ext cx="4645050" cy="13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1"/>
          <p:cNvSpPr txBox="1"/>
          <p:nvPr/>
        </p:nvSpPr>
        <p:spPr>
          <a:xfrm>
            <a:off x="1188724" y="3877150"/>
            <a:ext cx="47184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Os estados em regime permanente seguirão uma reta → A derivada é a inclinação (constante)</a:t>
            </a:r>
            <a:endParaRPr/>
          </a:p>
        </p:txBody>
      </p:sp>
      <p:sp>
        <p:nvSpPr>
          <p:cNvPr id="580" name="Google Shape;580;p41"/>
          <p:cNvSpPr/>
          <p:nvPr/>
        </p:nvSpPr>
        <p:spPr>
          <a:xfrm>
            <a:off x="1152125" y="2003900"/>
            <a:ext cx="2951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500"/>
              <a:buFont typeface="Platypi Medium"/>
              <a:buNone/>
            </a:pP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Entrada em Rampa</a:t>
            </a:r>
            <a:r>
              <a:rPr lang="en-US" sz="1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 (r = t):</a:t>
            </a:r>
            <a:endParaRPr sz="18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581" name="Google Shape;581;p41"/>
          <p:cNvSpPr txBox="1"/>
          <p:nvPr/>
        </p:nvSpPr>
        <p:spPr>
          <a:xfrm>
            <a:off x="6268850" y="2367200"/>
            <a:ext cx="1795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Substituindo:</a:t>
            </a:r>
            <a:endParaRPr/>
          </a:p>
        </p:txBody>
      </p:sp>
      <p:pic>
        <p:nvPicPr>
          <p:cNvPr id="582" name="Google Shape;5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450" y="4993150"/>
            <a:ext cx="2610900" cy="12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6950" y="4940650"/>
            <a:ext cx="1622900" cy="13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5369" y="2780413"/>
            <a:ext cx="2038075" cy="80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1"/>
          <p:cNvSpPr txBox="1"/>
          <p:nvPr/>
        </p:nvSpPr>
        <p:spPr>
          <a:xfrm>
            <a:off x="8803175" y="2367200"/>
            <a:ext cx="2727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Igualando os coeficientes matriciais de t: </a:t>
            </a:r>
            <a:r>
              <a:rPr b="1"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AV = –B</a:t>
            </a:r>
            <a:endParaRPr b="1" sz="1650">
              <a:solidFill>
                <a:srgbClr val="504C4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86" name="Google Shape;586;p41"/>
          <p:cNvSpPr txBox="1"/>
          <p:nvPr/>
        </p:nvSpPr>
        <p:spPr>
          <a:xfrm>
            <a:off x="8861350" y="3210425"/>
            <a:ext cx="2727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Igualando os termos constantes: </a:t>
            </a:r>
            <a:r>
              <a:rPr b="1"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AW = V</a:t>
            </a:r>
            <a:endParaRPr b="1" sz="1650">
              <a:solidFill>
                <a:srgbClr val="504C4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587" name="Google Shape;587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5375" y="4316475"/>
            <a:ext cx="4849391" cy="30271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1"/>
          <p:cNvSpPr txBox="1"/>
          <p:nvPr/>
        </p:nvSpPr>
        <p:spPr>
          <a:xfrm>
            <a:off x="6415375" y="3877150"/>
            <a:ext cx="1795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04C4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Substituindo:</a:t>
            </a:r>
            <a:endParaRPr/>
          </a:p>
        </p:txBody>
      </p:sp>
      <p:pic>
        <p:nvPicPr>
          <p:cNvPr id="589" name="Google Shape;589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68850" y="5290500"/>
            <a:ext cx="5261325" cy="61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"/>
          <p:cNvSpPr/>
          <p:nvPr/>
        </p:nvSpPr>
        <p:spPr>
          <a:xfrm>
            <a:off x="661475" y="2959853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00"/>
              <a:buFont typeface="Platypi Medium"/>
              <a:buNone/>
            </a:pPr>
            <a:r>
              <a:rPr lang="en-US" sz="38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Obrigado!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2"/>
          <p:cNvSpPr/>
          <p:nvPr/>
        </p:nvSpPr>
        <p:spPr>
          <a:xfrm>
            <a:off x="661488" y="3603045"/>
            <a:ext cx="108687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950"/>
              <a:buFont typeface="Platypi Medium"/>
              <a:buNone/>
            </a:pPr>
            <a:r>
              <a:rPr lang="en-US" sz="29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Agradecemos a atenção!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